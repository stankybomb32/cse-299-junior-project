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450" y="2648933"/>
            <a:ext cx="16325850" cy="4177220"/>
            <a:chOff x="0" y="0"/>
            <a:chExt cx="21767800" cy="556962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4614350"/>
              <a:ext cx="16704863" cy="955276"/>
              <a:chOff x="0" y="0"/>
              <a:chExt cx="3299726" cy="18869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299726" cy="188697"/>
              </a:xfrm>
              <a:custGeom>
                <a:avLst/>
                <a:gdLst/>
                <a:ahLst/>
                <a:cxnLst/>
                <a:rect r="r" b="b" t="t" l="l"/>
                <a:pathLst>
                  <a:path h="188697" w="3299726">
                    <a:moveTo>
                      <a:pt x="31515" y="0"/>
                    </a:moveTo>
                    <a:lnTo>
                      <a:pt x="3268211" y="0"/>
                    </a:lnTo>
                    <a:cubicBezTo>
                      <a:pt x="3276569" y="0"/>
                      <a:pt x="3284586" y="3320"/>
                      <a:pt x="3290496" y="9230"/>
                    </a:cubicBezTo>
                    <a:cubicBezTo>
                      <a:pt x="3296406" y="15141"/>
                      <a:pt x="3299726" y="23157"/>
                      <a:pt x="3299726" y="31515"/>
                    </a:cubicBezTo>
                    <a:lnTo>
                      <a:pt x="3299726" y="157182"/>
                    </a:lnTo>
                    <a:cubicBezTo>
                      <a:pt x="3299726" y="174587"/>
                      <a:pt x="3285617" y="188697"/>
                      <a:pt x="3268211" y="188697"/>
                    </a:cubicBezTo>
                    <a:lnTo>
                      <a:pt x="31515" y="188697"/>
                    </a:lnTo>
                    <a:cubicBezTo>
                      <a:pt x="23157" y="188697"/>
                      <a:pt x="15141" y="185376"/>
                      <a:pt x="9230" y="179466"/>
                    </a:cubicBezTo>
                    <a:cubicBezTo>
                      <a:pt x="3320" y="173556"/>
                      <a:pt x="0" y="165540"/>
                      <a:pt x="0" y="157182"/>
                    </a:cubicBezTo>
                    <a:lnTo>
                      <a:pt x="0" y="31515"/>
                    </a:lnTo>
                    <a:cubicBezTo>
                      <a:pt x="0" y="23157"/>
                      <a:pt x="3320" y="15141"/>
                      <a:pt x="9230" y="9230"/>
                    </a:cubicBezTo>
                    <a:cubicBezTo>
                      <a:pt x="15141" y="3320"/>
                      <a:pt x="23157" y="0"/>
                      <a:pt x="31515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3299726" cy="2363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27000" y="4807273"/>
              <a:ext cx="1680242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simple binary classifier built with NumPy using Wisconsin Diagnostic Breast Cancer Dataset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127000" y="0"/>
              <a:ext cx="21640800" cy="4114800"/>
              <a:chOff x="0" y="0"/>
              <a:chExt cx="4274726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27472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274726">
                    <a:moveTo>
                      <a:pt x="24327" y="0"/>
                    </a:moveTo>
                    <a:lnTo>
                      <a:pt x="4250399" y="0"/>
                    </a:lnTo>
                    <a:cubicBezTo>
                      <a:pt x="4263834" y="0"/>
                      <a:pt x="4274726" y="10891"/>
                      <a:pt x="4274726" y="24327"/>
                    </a:cubicBezTo>
                    <a:lnTo>
                      <a:pt x="4274726" y="788473"/>
                    </a:lnTo>
                    <a:cubicBezTo>
                      <a:pt x="4274726" y="801909"/>
                      <a:pt x="4263834" y="812800"/>
                      <a:pt x="4250399" y="812800"/>
                    </a:cubicBezTo>
                    <a:lnTo>
                      <a:pt x="24327" y="812800"/>
                    </a:lnTo>
                    <a:cubicBezTo>
                      <a:pt x="10891" y="812800"/>
                      <a:pt x="0" y="801909"/>
                      <a:pt x="0" y="788473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4274726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46730" y="290073"/>
              <a:ext cx="18381801" cy="38247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41"/>
                </a:lnSpc>
              </a:pPr>
              <a:r>
                <a:rPr lang="en-US" sz="10841" spc="-65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Neural Network </a:t>
              </a:r>
            </a:p>
            <a:p>
              <a:pPr algn="l">
                <a:lnSpc>
                  <a:spcPts val="10841"/>
                </a:lnSpc>
              </a:pPr>
              <a:r>
                <a:rPr lang="en-US" sz="10841" spc="-65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From Scratch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057275"/>
            <a:ext cx="913966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IDEAS: FEATURES • SIGMOID • LOSS • WEIGHT UPDATES</a:t>
            </a:r>
          </a:p>
          <a:p>
            <a:pPr algn="just">
              <a:lnSpc>
                <a:spcPts val="1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goal and workflow</a:t>
            </a:r>
          </a:p>
          <a:p>
            <a:pPr algn="l">
              <a:lnSpc>
                <a:spcPts val="480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086100"/>
            <a:ext cx="4229136" cy="4114800"/>
            <a:chOff x="0" y="0"/>
            <a:chExt cx="5638848" cy="548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224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747706" y="518795"/>
              <a:ext cx="366249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INPUT DATA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4615"/>
              <a:ext cx="5638848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Wisconsin Diagn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ostic Breast Cancer dataset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Three selected measurements: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perimeter3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area3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• concavity3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08728" y="3086100"/>
            <a:ext cx="4505616" cy="4114800"/>
            <a:chOff x="0" y="0"/>
            <a:chExt cx="6007488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60496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344994" y="583568"/>
              <a:ext cx="366249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MODEL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92885"/>
              <a:ext cx="5746896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Three input f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eatures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→ weighted sum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→ sigmoid activation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→ probability-like output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65163" y="3086100"/>
            <a:ext cx="4114800" cy="4114800"/>
            <a:chOff x="0" y="0"/>
            <a:chExt cx="5486400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787146" y="518795"/>
              <a:ext cx="366249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LEARNING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5083" y="1364615"/>
              <a:ext cx="4853436" cy="2948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Compare p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rediction with label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Update weights repeatedly over 100 epochs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86529" y="8202717"/>
            <a:ext cx="17896058" cy="105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3"/>
              </a:lnSpc>
              <a:spcBef>
                <a:spcPct val="0"/>
              </a:spcBef>
            </a:pPr>
            <a:r>
              <a:rPr lang="en-US" sz="2466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466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orkflow: Load data →preprocess → initialize weights →predict → calculate error →update weights</a:t>
            </a:r>
          </a:p>
          <a:p>
            <a:pPr algn="ctr">
              <a:lnSpc>
                <a:spcPts val="51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5921" y="3326735"/>
            <a:ext cx="5509925" cy="5509925"/>
          </a:xfrm>
          <a:custGeom>
            <a:avLst/>
            <a:gdLst/>
            <a:ahLst/>
            <a:cxnLst/>
            <a:rect r="r" b="b" t="t" l="l"/>
            <a:pathLst>
              <a:path h="5509925" w="5509925">
                <a:moveTo>
                  <a:pt x="0" y="0"/>
                </a:moveTo>
                <a:lnTo>
                  <a:pt x="5509925" y="0"/>
                </a:lnTo>
                <a:lnTo>
                  <a:pt x="5509925" y="5509925"/>
                </a:lnTo>
                <a:lnTo>
                  <a:pt x="0" y="5509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61690" y="3323912"/>
            <a:ext cx="5512748" cy="5512748"/>
          </a:xfrm>
          <a:custGeom>
            <a:avLst/>
            <a:gdLst/>
            <a:ahLst/>
            <a:cxnLst/>
            <a:rect r="r" b="b" t="t" l="l"/>
            <a:pathLst>
              <a:path h="5512748" w="5512748">
                <a:moveTo>
                  <a:pt x="0" y="0"/>
                </a:moveTo>
                <a:lnTo>
                  <a:pt x="5512749" y="0"/>
                </a:lnTo>
                <a:lnTo>
                  <a:pt x="5512749" y="5512748"/>
                </a:lnTo>
                <a:lnTo>
                  <a:pt x="0" y="5512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 and binary target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234831" y="3981928"/>
            <a:ext cx="405765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FEATURE VECTOR x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34723" y="4691541"/>
            <a:ext cx="3852321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x = [pe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rimeter3, area3, concavity3]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Each row represents one case. The three measurements are selected from the original feature table.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38308" y="3914301"/>
            <a:ext cx="321732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TARGET y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715261" y="4759168"/>
            <a:ext cx="420560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Malignant (M) → 1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Benign (B)      →0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model aims to output a value closer to the correct target.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65112"/>
            <a:ext cx="1437235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The n</a:t>
            </a: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otebook loads the UCI dataset (ID 17) and maps the diagnosis into numeric labels.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021" y="9277350"/>
            <a:ext cx="1539341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Imp</a:t>
            </a:r>
            <a:r>
              <a:rPr lang="en-US" sz="210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ortant: the notebook uses only three features, so the model is intentionally small and easy to inspect.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Weighted Sum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50387" y="3913196"/>
            <a:ext cx="7173870" cy="3591229"/>
            <a:chOff x="0" y="0"/>
            <a:chExt cx="9565160" cy="478830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7849362" cy="224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5"/>
                </a:lnSpc>
              </a:pPr>
              <a:r>
                <a:rPr lang="en-US" sz="4932" b="true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z = Σᵢ₌₁ⁿ wᵢxᵢ</a:t>
              </a:r>
            </a:p>
            <a:p>
              <a:pPr algn="l">
                <a:lnSpc>
                  <a:spcPts val="6905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78340"/>
              <a:ext cx="9565160" cy="3509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65"/>
                </a:lnSpc>
                <a:spcBef>
                  <a:spcPct val="0"/>
                </a:spcBef>
              </a:pP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xᵢ represents the </a:t>
              </a: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i-th input feature.</a:t>
              </a:r>
            </a:p>
            <a:p>
              <a:pPr algn="just">
                <a:lnSpc>
                  <a:spcPts val="4265"/>
                </a:lnSpc>
                <a:spcBef>
                  <a:spcPct val="0"/>
                </a:spcBef>
              </a:pP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wᵢ is the weight associated with that feature.</a:t>
              </a:r>
            </a:p>
            <a:p>
              <a:pPr algn="just">
                <a:lnSpc>
                  <a:spcPts val="4265"/>
                </a:lnSpc>
                <a:spcBef>
                  <a:spcPct val="0"/>
                </a:spcBef>
              </a:pP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weighted sum z is passed to the activation function.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65112"/>
            <a:ext cx="1437235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Combine inpu</a:t>
            </a: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 features with their weights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7127" y="-314415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492820"/>
            <a:ext cx="4706826" cy="1803083"/>
            <a:chOff x="0" y="0"/>
            <a:chExt cx="212176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760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760">
                  <a:moveTo>
                    <a:pt x="1060880" y="0"/>
                  </a:moveTo>
                  <a:cubicBezTo>
                    <a:pt x="474972" y="0"/>
                    <a:pt x="0" y="181951"/>
                    <a:pt x="0" y="406400"/>
                  </a:cubicBezTo>
                  <a:cubicBezTo>
                    <a:pt x="0" y="630849"/>
                    <a:pt x="474972" y="812800"/>
                    <a:pt x="1060880" y="812800"/>
                  </a:cubicBezTo>
                  <a:cubicBezTo>
                    <a:pt x="1646788" y="812800"/>
                    <a:pt x="2121760" y="630849"/>
                    <a:pt x="2121760" y="406400"/>
                  </a:cubicBezTo>
                  <a:cubicBezTo>
                    <a:pt x="2121760" y="181951"/>
                    <a:pt x="1646788" y="0"/>
                    <a:pt x="1060880" y="0"/>
                  </a:cubicBezTo>
                  <a:close/>
                </a:path>
              </a:pathLst>
            </a:custGeom>
            <a:solidFill>
              <a:srgbClr val="F6C5A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8915" y="28575"/>
              <a:ext cx="172393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765732"/>
            <a:ext cx="4706826" cy="1803083"/>
            <a:chOff x="0" y="0"/>
            <a:chExt cx="212176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1760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760">
                  <a:moveTo>
                    <a:pt x="1060880" y="0"/>
                  </a:moveTo>
                  <a:cubicBezTo>
                    <a:pt x="474972" y="0"/>
                    <a:pt x="0" y="181951"/>
                    <a:pt x="0" y="406400"/>
                  </a:cubicBezTo>
                  <a:cubicBezTo>
                    <a:pt x="0" y="630849"/>
                    <a:pt x="474972" y="812800"/>
                    <a:pt x="1060880" y="812800"/>
                  </a:cubicBezTo>
                  <a:cubicBezTo>
                    <a:pt x="1646788" y="812800"/>
                    <a:pt x="2121760" y="630849"/>
                    <a:pt x="2121760" y="406400"/>
                  </a:cubicBezTo>
                  <a:cubicBezTo>
                    <a:pt x="2121760" y="181951"/>
                    <a:pt x="1646788" y="0"/>
                    <a:pt x="1060880" y="0"/>
                  </a:cubicBezTo>
                  <a:close/>
                </a:path>
              </a:pathLst>
            </a:custGeom>
            <a:solidFill>
              <a:srgbClr val="F6C5A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8915" y="28575"/>
              <a:ext cx="172393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629276"/>
            <a:ext cx="4706826" cy="1803083"/>
            <a:chOff x="0" y="0"/>
            <a:chExt cx="212176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1760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760">
                  <a:moveTo>
                    <a:pt x="1060880" y="0"/>
                  </a:moveTo>
                  <a:cubicBezTo>
                    <a:pt x="474972" y="0"/>
                    <a:pt x="0" y="181951"/>
                    <a:pt x="0" y="406400"/>
                  </a:cubicBezTo>
                  <a:cubicBezTo>
                    <a:pt x="0" y="630849"/>
                    <a:pt x="474972" y="812800"/>
                    <a:pt x="1060880" y="812800"/>
                  </a:cubicBezTo>
                  <a:cubicBezTo>
                    <a:pt x="1646788" y="812800"/>
                    <a:pt x="2121760" y="630849"/>
                    <a:pt x="2121760" y="406400"/>
                  </a:cubicBezTo>
                  <a:cubicBezTo>
                    <a:pt x="2121760" y="181951"/>
                    <a:pt x="1646788" y="0"/>
                    <a:pt x="1060880" y="0"/>
                  </a:cubicBezTo>
                  <a:close/>
                </a:path>
              </a:pathLst>
            </a:custGeom>
            <a:solidFill>
              <a:srgbClr val="F6C5A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8915" y="28575"/>
              <a:ext cx="172393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96394" y="5669757"/>
            <a:ext cx="3086100" cy="1722120"/>
            <a:chOff x="0" y="0"/>
            <a:chExt cx="812800" cy="4535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53562"/>
            </a:xfrm>
            <a:custGeom>
              <a:avLst/>
              <a:gdLst/>
              <a:ahLst/>
              <a:cxnLst/>
              <a:rect r="r" b="b" t="t" l="l"/>
              <a:pathLst>
                <a:path h="453562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25622"/>
                  </a:lnTo>
                  <a:cubicBezTo>
                    <a:pt x="812800" y="359554"/>
                    <a:pt x="799321" y="392096"/>
                    <a:pt x="775327" y="416090"/>
                  </a:cubicBezTo>
                  <a:cubicBezTo>
                    <a:pt x="751333" y="440083"/>
                    <a:pt x="718791" y="453562"/>
                    <a:pt x="684859" y="453562"/>
                  </a:cubicBezTo>
                  <a:lnTo>
                    <a:pt x="127941" y="453562"/>
                  </a:lnTo>
                  <a:cubicBezTo>
                    <a:pt x="94009" y="453562"/>
                    <a:pt x="61467" y="440083"/>
                    <a:pt x="37473" y="416090"/>
                  </a:cubicBezTo>
                  <a:cubicBezTo>
                    <a:pt x="13479" y="392096"/>
                    <a:pt x="0" y="359554"/>
                    <a:pt x="0" y="32562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BCAEA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12800" cy="501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989777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single-neuron network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799402"/>
            <a:ext cx="141351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The notebook c</a:t>
            </a:r>
            <a:r>
              <a:rPr lang="en-US" sz="240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omputes a weighted sum of the three standardized inputs, then applies sigmoid.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501393" y="6056089"/>
            <a:ext cx="1676102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Σ weighted</a:t>
            </a:r>
          </a:p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945154" y="6304122"/>
            <a:ext cx="87391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D3D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area3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44955" y="8616950"/>
            <a:ext cx="167431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D3D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concavity3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44955" y="4167192"/>
            <a:ext cx="168741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6D3D1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perimeter3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831738" y="5669757"/>
            <a:ext cx="3003669" cy="1803083"/>
            <a:chOff x="0" y="0"/>
            <a:chExt cx="1354005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4005" cy="812800"/>
            </a:xfrm>
            <a:custGeom>
              <a:avLst/>
              <a:gdLst/>
              <a:ahLst/>
              <a:cxnLst/>
              <a:rect r="r" b="b" t="t" l="l"/>
              <a:pathLst>
                <a:path h="812800" w="1354005">
                  <a:moveTo>
                    <a:pt x="677002" y="0"/>
                  </a:moveTo>
                  <a:cubicBezTo>
                    <a:pt x="303104" y="0"/>
                    <a:pt x="0" y="181951"/>
                    <a:pt x="0" y="406400"/>
                  </a:cubicBezTo>
                  <a:cubicBezTo>
                    <a:pt x="0" y="630849"/>
                    <a:pt x="303104" y="812800"/>
                    <a:pt x="677002" y="812800"/>
                  </a:cubicBezTo>
                  <a:cubicBezTo>
                    <a:pt x="1050900" y="812800"/>
                    <a:pt x="1354005" y="630849"/>
                    <a:pt x="1354005" y="406400"/>
                  </a:cubicBezTo>
                  <a:cubicBezTo>
                    <a:pt x="1354005" y="181951"/>
                    <a:pt x="1050900" y="0"/>
                    <a:pt x="677002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6938" y="28575"/>
              <a:ext cx="1100129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733994" y="6344604"/>
            <a:ext cx="119915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AF7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sigmoid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96250" y="8586470"/>
            <a:ext cx="611316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80808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equation: ŷ = σ(w₁x₁ + w₂x₂ + w₃x₃)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AutoShape 30" id="30"/>
          <p:cNvSpPr/>
          <p:nvPr/>
        </p:nvSpPr>
        <p:spPr>
          <a:xfrm>
            <a:off x="5735526" y="4413411"/>
            <a:ext cx="1989706" cy="1978818"/>
          </a:xfrm>
          <a:prstGeom prst="line">
            <a:avLst/>
          </a:prstGeom>
          <a:ln cap="flat" w="38100">
            <a:solidFill>
              <a:srgbClr val="BCAEA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5735526" y="6511767"/>
            <a:ext cx="1913260" cy="111682"/>
          </a:xfrm>
          <a:prstGeom prst="line">
            <a:avLst/>
          </a:prstGeom>
          <a:ln cap="flat" w="38100">
            <a:solidFill>
              <a:srgbClr val="BCAEA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5735526" y="6571299"/>
            <a:ext cx="2009819" cy="2095975"/>
          </a:xfrm>
          <a:prstGeom prst="line">
            <a:avLst/>
          </a:prstGeom>
          <a:ln cap="flat" w="38100">
            <a:solidFill>
              <a:srgbClr val="BCAEA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0882494" y="6571299"/>
            <a:ext cx="1949244" cy="102461"/>
          </a:xfrm>
          <a:prstGeom prst="line">
            <a:avLst/>
          </a:prstGeom>
          <a:ln cap="flat" w="38100">
            <a:solidFill>
              <a:srgbClr val="BCAEA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411888"/>
            <a:ext cx="7646784" cy="5463223"/>
            <a:chOff x="0" y="0"/>
            <a:chExt cx="2013968" cy="1438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3968" cy="1438874"/>
            </a:xfrm>
            <a:custGeom>
              <a:avLst/>
              <a:gdLst/>
              <a:ahLst/>
              <a:cxnLst/>
              <a:rect r="r" b="b" t="t" l="l"/>
              <a:pathLst>
                <a:path h="1438874" w="2013968">
                  <a:moveTo>
                    <a:pt x="51635" y="0"/>
                  </a:moveTo>
                  <a:lnTo>
                    <a:pt x="1962334" y="0"/>
                  </a:lnTo>
                  <a:cubicBezTo>
                    <a:pt x="1976028" y="0"/>
                    <a:pt x="1989161" y="5440"/>
                    <a:pt x="1998845" y="15123"/>
                  </a:cubicBezTo>
                  <a:cubicBezTo>
                    <a:pt x="2008528" y="24807"/>
                    <a:pt x="2013968" y="37940"/>
                    <a:pt x="2013968" y="51635"/>
                  </a:cubicBezTo>
                  <a:lnTo>
                    <a:pt x="2013968" y="1387239"/>
                  </a:lnTo>
                  <a:cubicBezTo>
                    <a:pt x="2013968" y="1415756"/>
                    <a:pt x="1990850" y="1438874"/>
                    <a:pt x="1962334" y="1438874"/>
                  </a:cubicBezTo>
                  <a:lnTo>
                    <a:pt x="51635" y="1438874"/>
                  </a:lnTo>
                  <a:cubicBezTo>
                    <a:pt x="23118" y="1438874"/>
                    <a:pt x="0" y="1415756"/>
                    <a:pt x="0" y="1387239"/>
                  </a:cubicBezTo>
                  <a:lnTo>
                    <a:pt x="0" y="51635"/>
                  </a:lnTo>
                  <a:cubicBezTo>
                    <a:pt x="0" y="23118"/>
                    <a:pt x="23118" y="0"/>
                    <a:pt x="51635" y="0"/>
                  </a:cubicBezTo>
                  <a:close/>
                </a:path>
              </a:pathLst>
            </a:custGeom>
            <a:solidFill>
              <a:srgbClr val="F6C5A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13968" cy="1486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Sigmoid Activation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50387" y="3913196"/>
            <a:ext cx="8486009" cy="3591229"/>
            <a:chOff x="0" y="0"/>
            <a:chExt cx="11314679" cy="478830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11314679" cy="224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5"/>
                </a:lnSpc>
              </a:pPr>
              <a:r>
                <a:rPr lang="en-US" sz="4932" b="true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ŷ = σ(z) = 1 / (1 + e⁻ᶻ)</a:t>
              </a:r>
            </a:p>
            <a:p>
              <a:pPr algn="l">
                <a:lnSpc>
                  <a:spcPts val="6905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278340"/>
              <a:ext cx="9565160" cy="3509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65"/>
                </a:lnSpc>
                <a:spcBef>
                  <a:spcPct val="0"/>
                </a:spcBef>
              </a:pP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xᵢ represents the </a:t>
              </a: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i-th input feature.</a:t>
              </a:r>
            </a:p>
            <a:p>
              <a:pPr algn="just">
                <a:lnSpc>
                  <a:spcPts val="4265"/>
                </a:lnSpc>
                <a:spcBef>
                  <a:spcPct val="0"/>
                </a:spcBef>
              </a:pP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wᵢ is the weight associated with that feature.</a:t>
              </a:r>
            </a:p>
            <a:p>
              <a:pPr algn="just">
                <a:lnSpc>
                  <a:spcPts val="4265"/>
                </a:lnSpc>
                <a:spcBef>
                  <a:spcPct val="0"/>
                </a:spcBef>
              </a:pPr>
              <a:r>
                <a:rPr lang="en-US" sz="3046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weighted sum z is passed to the activation function.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65112"/>
            <a:ext cx="1437235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Convert </a:t>
            </a: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the weighted sum into a prediction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10287" y="3461707"/>
            <a:ext cx="7114210" cy="448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sigmoid output lies between 0 and 1. In a binary-classification setting, ŷ can be interpreted as a score for the positive class; a threshold can convert it into a class label.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61926"/>
            <a:ext cx="7315200" cy="3285190"/>
          </a:xfrm>
          <a:custGeom>
            <a:avLst/>
            <a:gdLst/>
            <a:ahLst/>
            <a:cxnLst/>
            <a:rect r="r" b="b" t="t" l="l"/>
            <a:pathLst>
              <a:path h="3285190" w="7315200">
                <a:moveTo>
                  <a:pt x="0" y="0"/>
                </a:moveTo>
                <a:lnTo>
                  <a:pt x="7315200" y="0"/>
                </a:lnTo>
                <a:lnTo>
                  <a:pt x="7315200" y="3285190"/>
                </a:lnTo>
                <a:lnTo>
                  <a:pt x="0" y="328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95226" y="3961926"/>
            <a:ext cx="7315200" cy="3285190"/>
          </a:xfrm>
          <a:custGeom>
            <a:avLst/>
            <a:gdLst/>
            <a:ahLst/>
            <a:cxnLst/>
            <a:rect r="r" b="b" t="t" l="l"/>
            <a:pathLst>
              <a:path h="3285190" w="7315200">
                <a:moveTo>
                  <a:pt x="0" y="0"/>
                </a:moveTo>
                <a:lnTo>
                  <a:pt x="7315200" y="0"/>
                </a:lnTo>
                <a:lnTo>
                  <a:pt x="7315200" y="3285190"/>
                </a:lnTo>
                <a:lnTo>
                  <a:pt x="0" y="328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Sigmoid maps the score to 0–1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7118" y="4229501"/>
            <a:ext cx="405765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SIGMOID σ(z)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7118" y="4691541"/>
            <a:ext cx="3684798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σ(z) = 1 / (1 +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e⁻ᶻ)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Output is between 0 and 1. It can be interpreted as a probability-like score.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30595" y="4318635"/>
            <a:ext cx="321732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TARGET y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30595" y="4691541"/>
            <a:ext cx="420560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eLU(z) = max(0, z)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egative values become 0; positive values remain unchanged. It is defined but not used in the current forward pass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65112"/>
            <a:ext cx="1437235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ReLU is defined in the n</a:t>
            </a: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otebook too, but the network currently uses sigmoid.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17008" y="7991001"/>
            <a:ext cx="1539341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80808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</a:t>
            </a:r>
            <a:r>
              <a:rPr lang="en-US" b="true" sz="2299">
                <a:solidFill>
                  <a:srgbClr val="80808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orward pass: first calculate z = wᵀx, then calculate ŷ = σ(z).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61690" y="3323912"/>
            <a:ext cx="5339369" cy="5339369"/>
          </a:xfrm>
          <a:custGeom>
            <a:avLst/>
            <a:gdLst/>
            <a:ahLst/>
            <a:cxnLst/>
            <a:rect r="r" b="b" t="t" l="l"/>
            <a:pathLst>
              <a:path h="5339369" w="5339369">
                <a:moveTo>
                  <a:pt x="0" y="0"/>
                </a:moveTo>
                <a:lnTo>
                  <a:pt x="5339369" y="0"/>
                </a:lnTo>
                <a:lnTo>
                  <a:pt x="5339369" y="5339368"/>
                </a:lnTo>
                <a:lnTo>
                  <a:pt x="0" y="5339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89777"/>
            <a:ext cx="12052106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Measure how far the output is from the label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66875" y="3737855"/>
            <a:ext cx="5887022" cy="171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sz="4932" b="tru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ŷ = σ(wᵀx)</a:t>
            </a:r>
          </a:p>
          <a:p>
            <a:pPr algn="l">
              <a:lnSpc>
                <a:spcPts val="690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66875" y="6375953"/>
            <a:ext cx="4733357" cy="318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ŷ = model p</a:t>
            </a: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rediction</a:t>
            </a:r>
          </a:p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 = true label (0 or 1)</a:t>
            </a:r>
          </a:p>
          <a:p>
            <a:pPr algn="l">
              <a:lnSpc>
                <a:spcPts val="4265"/>
              </a:lnSpc>
              <a:spcBef>
                <a:spcPct val="0"/>
              </a:spcBef>
            </a:pP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L= 0.5*squared prediction error</a:t>
            </a:r>
          </a:p>
          <a:p>
            <a:pPr algn="just">
              <a:lnSpc>
                <a:spcPts val="4265"/>
              </a:lnSpc>
              <a:spcBef>
                <a:spcPct val="0"/>
              </a:spcBef>
            </a:pPr>
          </a:p>
          <a:p>
            <a:pPr algn="just">
              <a:lnSpc>
                <a:spcPts val="426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15261" y="4318635"/>
            <a:ext cx="402701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INTERPRETING ERROR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15261" y="4759168"/>
            <a:ext cx="4205606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•If ŷ = 0.8 and y = 1: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= 0.5*(0.8 − 1)² = 0.02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If ŷ = 0.2 and y = 1: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= 0.5*(0.2 − 1)² = 0.32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65112"/>
            <a:ext cx="1437235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Mea</a:t>
            </a: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sure the difference between prediction and target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092882"/>
            <a:ext cx="1539341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A smaller squared err</a:t>
            </a:r>
            <a:r>
              <a:rPr lang="en-US" sz="2100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or means the prediction is closer to the target for that example.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66875" y="5090377"/>
            <a:ext cx="5887022" cy="171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sz="4932" b="tru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L= 0.5*(ŷ − y)²</a:t>
            </a:r>
          </a:p>
          <a:p>
            <a:pPr algn="l">
              <a:lnSpc>
                <a:spcPts val="6905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273497"/>
            <a:ext cx="273417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A572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>
                <a:solidFill>
                  <a:srgbClr val="A572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PREDICTION AND LOSS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0395" y="1894527"/>
            <a:ext cx="12052106" cy="6437399"/>
            <a:chOff x="0" y="0"/>
            <a:chExt cx="16069475" cy="858319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5250"/>
              <a:ext cx="16069475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800" spc="-288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Prediction Error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85375" y="4274814"/>
              <a:ext cx="6443334" cy="4308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4"/>
                </a:lnSpc>
                <a:spcBef>
                  <a:spcPct val="0"/>
                </a:spcBef>
              </a:pPr>
              <a:r>
                <a:rPr lang="en-US" sz="311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sign of δ indicates whether the p</a:t>
              </a:r>
              <a:r>
                <a:rPr lang="en-US" sz="311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rediction is above or below the target.</a:t>
              </a:r>
            </a:p>
            <a:p>
              <a:pPr algn="just">
                <a:lnSpc>
                  <a:spcPts val="4354"/>
                </a:lnSpc>
                <a:spcBef>
                  <a:spcPct val="0"/>
                </a:spcBef>
              </a:pPr>
            </a:p>
            <a:p>
              <a:pPr algn="just">
                <a:lnSpc>
                  <a:spcPts val="4354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73480"/>
              <a:ext cx="8598154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80808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Mea</a:t>
              </a:r>
              <a:r>
                <a:rPr lang="en-US" sz="2199">
                  <a:solidFill>
                    <a:srgbClr val="80808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sure the difference between prediction and target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85375" y="2600622"/>
              <a:ext cx="7849362" cy="224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5"/>
                </a:lnSpc>
              </a:pPr>
              <a:r>
                <a:rPr lang="en-US" sz="4932" b="true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δ = ŷ − y</a:t>
              </a:r>
            </a:p>
            <a:p>
              <a:pPr algn="l">
                <a:lnSpc>
                  <a:spcPts val="690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73497"/>
            <a:ext cx="273417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A572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1800">
                <a:solidFill>
                  <a:srgbClr val="A572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PREDICTION AND LOSS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8787894" y="1894527"/>
            <a:ext cx="14372359" cy="7526543"/>
            <a:chOff x="0" y="0"/>
            <a:chExt cx="19163145" cy="1003539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0"/>
              <a:ext cx="16069475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en-US" sz="4800" spc="-288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Weight Change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72675" y="4274814"/>
              <a:ext cx="10584811" cy="5760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4"/>
                </a:lnSpc>
                <a:spcBef>
                  <a:spcPct val="0"/>
                </a:spcBef>
              </a:pPr>
              <a:r>
                <a:rPr lang="en-US" sz="311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input xᵢ scales the simplified update term for weight wᵢ. A different input value can therefore p</a:t>
              </a:r>
              <a:r>
                <a:rPr lang="en-US" sz="311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roduce a different weight change.This is the simplified rule shown in the report, not the complete gradient for a sigmoid neuron.</a:t>
              </a:r>
            </a:p>
            <a:p>
              <a:pPr algn="just">
                <a:lnSpc>
                  <a:spcPts val="4354"/>
                </a:lnSpc>
                <a:spcBef>
                  <a:spcPct val="0"/>
                </a:spcBef>
              </a:pPr>
            </a:p>
            <a:p>
              <a:pPr algn="just">
                <a:lnSpc>
                  <a:spcPts val="4354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73480"/>
              <a:ext cx="19163145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80808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Connect</a:t>
              </a:r>
              <a:r>
                <a:rPr lang="en-US" sz="2199">
                  <a:solidFill>
                    <a:srgbClr val="80808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the error term with an input feature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5375" y="2600622"/>
              <a:ext cx="7849362" cy="224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05"/>
                </a:lnSpc>
              </a:pPr>
              <a:r>
                <a:rPr lang="en-US" sz="4932" b="true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Δwᵢ = δxᵢ</a:t>
              </a:r>
            </a:p>
            <a:p>
              <a:pPr algn="l">
                <a:lnSpc>
                  <a:spcPts val="6905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229503" y="1894527"/>
            <a:ext cx="0" cy="64694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61690" y="3323912"/>
            <a:ext cx="5339369" cy="5339369"/>
          </a:xfrm>
          <a:custGeom>
            <a:avLst/>
            <a:gdLst/>
            <a:ahLst/>
            <a:cxnLst/>
            <a:rect r="r" b="b" t="t" l="l"/>
            <a:pathLst>
              <a:path h="5339369" w="5339369">
                <a:moveTo>
                  <a:pt x="0" y="0"/>
                </a:moveTo>
                <a:lnTo>
                  <a:pt x="5339369" y="0"/>
                </a:lnTo>
                <a:lnTo>
                  <a:pt x="5339369" y="5339368"/>
                </a:lnTo>
                <a:lnTo>
                  <a:pt x="0" y="5339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6875" y="1992317"/>
            <a:ext cx="12052106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Update weights over repeated examples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66875" y="3737855"/>
            <a:ext cx="5887022" cy="171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sz="4932" b="tru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Δw = x (ŷ − y)</a:t>
            </a:r>
          </a:p>
          <a:p>
            <a:pPr algn="l">
              <a:lnSpc>
                <a:spcPts val="690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66875" y="6375953"/>
            <a:ext cx="5589122" cy="371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5"/>
              </a:lnSpc>
              <a:spcBef>
                <a:spcPct val="0"/>
              </a:spcBef>
            </a:pP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α = learning </a:t>
            </a: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rate</a:t>
            </a:r>
          </a:p>
          <a:p>
            <a:pPr algn="just">
              <a:lnSpc>
                <a:spcPts val="4265"/>
              </a:lnSpc>
              <a:spcBef>
                <a:spcPct val="0"/>
              </a:spcBef>
            </a:pP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notebook sets α = 0.01 for training.</a:t>
            </a:r>
          </a:p>
          <a:p>
            <a:pPr algn="just">
              <a:lnSpc>
                <a:spcPts val="4265"/>
              </a:lnSpc>
              <a:spcBef>
                <a:spcPct val="0"/>
              </a:spcBef>
            </a:pP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Training runs for 100 epochs.</a:t>
            </a:r>
          </a:p>
          <a:p>
            <a:pPr algn="just">
              <a:lnSpc>
                <a:spcPts val="4265"/>
              </a:lnSpc>
              <a:spcBef>
                <a:spcPct val="0"/>
              </a:spcBef>
            </a:pPr>
          </a:p>
          <a:p>
            <a:pPr algn="just">
              <a:lnSpc>
                <a:spcPts val="4265"/>
              </a:lnSpc>
              <a:spcBef>
                <a:spcPct val="0"/>
              </a:spcBef>
            </a:pPr>
          </a:p>
          <a:p>
            <a:pPr algn="just">
              <a:lnSpc>
                <a:spcPts val="4265"/>
              </a:lnSpc>
              <a:spcBef>
                <a:spcPct val="0"/>
              </a:spcBef>
            </a:pPr>
            <a:r>
              <a:rPr lang="en-US" sz="304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15261" y="4318635"/>
            <a:ext cx="4027019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TRAINING LOOP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715261" y="4759168"/>
            <a:ext cx="4205606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For each epoch: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 Visit each training row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2. Compute prediction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3. Calculate error / delta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4.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Update weights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5. Track mean squared error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66875" y="2612635"/>
            <a:ext cx="1437235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The notebook u</a:t>
            </a: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ses a simple error-based weight update with a learning rate.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47291" y="8975090"/>
            <a:ext cx="15393418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Note: this is a simplified update rule,</a:t>
            </a:r>
            <a:r>
              <a:rPr lang="en-US" sz="21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 not full backpropagation; the notebook checklist marks backpropagation as unfinished.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66875" y="5090377"/>
            <a:ext cx="5887022" cy="171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sz="4932" b="tru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wᵢ ← wᵢ − αΔwᵢ</a:t>
            </a:r>
          </a:p>
          <a:p>
            <a:pPr algn="l">
              <a:lnSpc>
                <a:spcPts val="6905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66875" y="1283022"/>
            <a:ext cx="118308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A5725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LEARNING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11884582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What the current notebook demonstrates</a:t>
            </a:r>
          </a:p>
          <a:p>
            <a:pPr algn="l">
              <a:lnSpc>
                <a:spcPts val="480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685594"/>
            <a:ext cx="4229136" cy="4114800"/>
            <a:chOff x="0" y="0"/>
            <a:chExt cx="5638848" cy="548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224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88177" y="518795"/>
              <a:ext cx="366249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TRAINING TRACE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4615"/>
              <a:ext cx="5638848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Ep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och 0, 10, 20, …, 90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Mean error is printed for monitoring.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08692" y="3685594"/>
            <a:ext cx="4310172" cy="4114800"/>
            <a:chOff x="0" y="0"/>
            <a:chExt cx="5746896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60496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79260" y="620795"/>
              <a:ext cx="4667636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FINAL PARAMETERS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92885"/>
              <a:ext cx="5746896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final l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earned weights are printed after training.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37243" y="3685594"/>
            <a:ext cx="4114800" cy="4114800"/>
            <a:chOff x="0" y="0"/>
            <a:chExt cx="5486400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030554" y="556022"/>
              <a:ext cx="366249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WHAT’S MISSING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5083" y="1364615"/>
              <a:ext cx="4853436" cy="2948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 held-out test set, accuracy, 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confusion matrix, or threshold-based predictions are reported in the notebook.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6556" y="8975090"/>
            <a:ext cx="15165487" cy="90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Av</a:t>
            </a:r>
            <a:r>
              <a:rPr lang="en-US" sz="209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oid claiming model accuracy unless you run a proper evaluation on data not used for training.</a:t>
            </a:r>
          </a:p>
          <a:p>
            <a:pPr algn="ctr">
              <a:lnSpc>
                <a:spcPts val="435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761302"/>
            <a:ext cx="1366555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b="true" sz="1800" spc="179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notebook prints mean error every 10 epochs and the final weight values.</a:t>
            </a:r>
          </a:p>
          <a:p>
            <a:pPr algn="just">
              <a:lnSpc>
                <a:spcPts val="1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61926"/>
            <a:ext cx="7791298" cy="3499001"/>
          </a:xfrm>
          <a:custGeom>
            <a:avLst/>
            <a:gdLst/>
            <a:ahLst/>
            <a:cxnLst/>
            <a:rect r="r" b="b" t="t" l="l"/>
            <a:pathLst>
              <a:path h="3499001" w="7791298">
                <a:moveTo>
                  <a:pt x="0" y="0"/>
                </a:moveTo>
                <a:lnTo>
                  <a:pt x="7791298" y="0"/>
                </a:lnTo>
                <a:lnTo>
                  <a:pt x="7791298" y="3499001"/>
                </a:lnTo>
                <a:lnTo>
                  <a:pt x="0" y="349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13717" y="3961926"/>
            <a:ext cx="7696709" cy="3456522"/>
          </a:xfrm>
          <a:custGeom>
            <a:avLst/>
            <a:gdLst/>
            <a:ahLst/>
            <a:cxnLst/>
            <a:rect r="r" b="b" t="t" l="l"/>
            <a:pathLst>
              <a:path h="3456522" w="7696709">
                <a:moveTo>
                  <a:pt x="0" y="0"/>
                </a:moveTo>
                <a:lnTo>
                  <a:pt x="7696709" y="0"/>
                </a:lnTo>
                <a:lnTo>
                  <a:pt x="7696709" y="3456522"/>
                </a:lnTo>
                <a:lnTo>
                  <a:pt x="0" y="3456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11504699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How the project could be improved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7118" y="3556161"/>
            <a:ext cx="4057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IMPLEMENT NEXT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7118" y="4276649"/>
            <a:ext cx="5946367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Add a train/test split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Evaluate accuracy, precision, recall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Plot loss across epochs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Add a decision threshold (e.g., 0.5)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Implement gradient calculation / backpropagation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47488" y="3518459"/>
            <a:ext cx="570225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MATHEMATICAL IMPROVEMENT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47488" y="4276649"/>
            <a:ext cx="4205606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sigmoid: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σ′(z) = σ(z)(1 − σ(z))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squared error: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∂E/∂wⱼ = 2(ŷ − y) σ′(z) xⱼ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Then use gradient descent: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wⱼ ← wⱼ − α ∂E/∂wⱼ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65112"/>
            <a:ext cx="1437235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The n</a:t>
            </a:r>
            <a:r>
              <a:rPr lang="en-US" sz="2199">
                <a:solidFill>
                  <a:srgbClr val="808080"/>
                </a:solidFill>
                <a:latin typeface="Open Sauce"/>
                <a:ea typeface="Open Sauce"/>
                <a:cs typeface="Open Sauce"/>
                <a:sym typeface="Open Sauce"/>
              </a:rPr>
              <a:t>otebook is a learning prototype; these are natural next steps.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17008" y="7991001"/>
            <a:ext cx="1539341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80808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g</a:t>
            </a:r>
            <a:r>
              <a:rPr lang="en-US" b="true" sz="2299">
                <a:solidFill>
                  <a:srgbClr val="80808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radient expression includes the sigmoid derivative that the current simplified update omits.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1188458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Key takeaways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99426" y="3649167"/>
            <a:ext cx="4229136" cy="4114800"/>
            <a:chOff x="0" y="0"/>
            <a:chExt cx="5638848" cy="548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224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88177" y="518795"/>
              <a:ext cx="366249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REPRESENT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97482"/>
              <a:ext cx="5638848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Features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become a numeric input vector; weights control each feature’s contribution.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71587" y="3685594"/>
            <a:ext cx="4114800" cy="4114800"/>
            <a:chOff x="0" y="0"/>
            <a:chExt cx="5486400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95399" y="620795"/>
              <a:ext cx="4667636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PREDICT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23365" y="2014070"/>
              <a:ext cx="503967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weighted sum follow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ed by sigmoid produces a score between 0 and 1.</a:t>
              </a: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29412" y="3766981"/>
            <a:ext cx="4114800" cy="4114800"/>
            <a:chOff x="0" y="0"/>
            <a:chExt cx="5486400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911953" y="604593"/>
              <a:ext cx="366249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8C775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LEARN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16482" y="1971597"/>
              <a:ext cx="4853436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model </a:t>
              </a: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compares output with the target and repeatedly adjusts weights.</a:t>
              </a:r>
            </a:p>
            <a:p>
              <a:pPr algn="just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14722"/>
            <a:ext cx="13665556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b="true" sz="1800" spc="179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1800" spc="179">
                <a:solidFill>
                  <a:srgbClr val="A6A6A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small implementation makes the essential neural-network ideas visible.</a:t>
            </a:r>
          </a:p>
          <a:p>
            <a:pPr algn="just">
              <a:lnSpc>
                <a:spcPts val="1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07917"/>
            <a:ext cx="456068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Studio Shodw</a:t>
            </a: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DAHXuKDwFNU</dc:identifier>
  <dcterms:modified xsi:type="dcterms:W3CDTF">2011-08-01T06:04:30Z</dcterms:modified>
  <cp:revision>1</cp:revision>
  <dc:title>White Beige and Brown Simple Minimalist Clean Final Project Presentation</dc:title>
</cp:coreProperties>
</file>